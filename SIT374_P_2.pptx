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ABD153C-3176-4892-9B41-45E27C32D7B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A1A279D5-0C71-4E23-A59A-E020A5F8B14A}">
      <dgm:prSet/>
      <dgm:spPr/>
      <dgm:t>
        <a:bodyPr/>
        <a:lstStyle/>
        <a:p>
          <a:r>
            <a:rPr lang="en-US"/>
            <a:t>The E-Waste Battery Extraction System aims to develop a robotic solution capable of safely identifying and extracting batteries from electronic waste. My contribution focused on the Systems and Simulations component, specifically implementing physics-based robotic simulation using MATLAB, Simulink, and Simscape Multibody.</a:t>
          </a:r>
        </a:p>
      </dgm:t>
    </dgm:pt>
    <dgm:pt modelId="{6156AC06-6A28-4D92-9AAB-CE9324BDA457}" type="parTrans" cxnId="{4B954BC1-B247-434A-9E7C-1FD5B64F515F}">
      <dgm:prSet/>
      <dgm:spPr/>
      <dgm:t>
        <a:bodyPr/>
        <a:lstStyle/>
        <a:p>
          <a:endParaRPr lang="en-US"/>
        </a:p>
      </dgm:t>
    </dgm:pt>
    <dgm:pt modelId="{95BB077F-B800-4F90-AA05-0F00D1D15E56}" type="sibTrans" cxnId="{4B954BC1-B247-434A-9E7C-1FD5B64F515F}">
      <dgm:prSet/>
      <dgm:spPr/>
      <dgm:t>
        <a:bodyPr/>
        <a:lstStyle/>
        <a:p>
          <a:endParaRPr lang="en-US"/>
        </a:p>
      </dgm:t>
    </dgm:pt>
    <dgm:pt modelId="{ACBD4F32-BFBF-4CBC-9836-F5AF23544D95}">
      <dgm:prSet/>
      <dgm:spPr/>
      <dgm:t>
        <a:bodyPr/>
        <a:lstStyle/>
        <a:p>
          <a:r>
            <a:rPr lang="en-US"/>
            <a:t>The main goal of my work was to move from simple motion-based simulation toward realistic force-driven robotic behaviour using torque-based physics.</a:t>
          </a:r>
        </a:p>
      </dgm:t>
    </dgm:pt>
    <dgm:pt modelId="{187D30E8-C8E3-49F4-8B39-740E237C4BA9}" type="parTrans" cxnId="{84C603A6-86DA-422A-9D69-8E4D4EC96C1E}">
      <dgm:prSet/>
      <dgm:spPr/>
      <dgm:t>
        <a:bodyPr/>
        <a:lstStyle/>
        <a:p>
          <a:endParaRPr lang="en-US"/>
        </a:p>
      </dgm:t>
    </dgm:pt>
    <dgm:pt modelId="{D68A4AA4-0255-47EE-A880-0FFE316B20DE}" type="sibTrans" cxnId="{84C603A6-86DA-422A-9D69-8E4D4EC96C1E}">
      <dgm:prSet/>
      <dgm:spPr/>
      <dgm:t>
        <a:bodyPr/>
        <a:lstStyle/>
        <a:p>
          <a:endParaRPr lang="en-US"/>
        </a:p>
      </dgm:t>
    </dgm:pt>
    <dgm:pt modelId="{A96E0277-0F02-4082-8518-B4DBEEA78074}" type="pres">
      <dgm:prSet presAssocID="{1ABD153C-3176-4892-9B41-45E27C32D7BA}" presName="root" presStyleCnt="0">
        <dgm:presLayoutVars>
          <dgm:dir/>
          <dgm:resizeHandles val="exact"/>
        </dgm:presLayoutVars>
      </dgm:prSet>
      <dgm:spPr/>
    </dgm:pt>
    <dgm:pt modelId="{63A24066-69EF-49DA-AAAB-A1DBC908F1DA}" type="pres">
      <dgm:prSet presAssocID="{A1A279D5-0C71-4E23-A59A-E020A5F8B14A}" presName="compNode" presStyleCnt="0"/>
      <dgm:spPr/>
    </dgm:pt>
    <dgm:pt modelId="{2757E941-38ED-4C5A-BA8F-013EE14F82C8}" type="pres">
      <dgm:prSet presAssocID="{A1A279D5-0C71-4E23-A59A-E020A5F8B14A}" presName="bgRect" presStyleLbl="bgShp" presStyleIdx="0" presStyleCnt="2"/>
      <dgm:spPr/>
    </dgm:pt>
    <dgm:pt modelId="{1AAF2EE5-1A2F-4709-ADD2-E922DCEBBE8E}" type="pres">
      <dgm:prSet presAssocID="{A1A279D5-0C71-4E23-A59A-E020A5F8B14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75DC039-FEE0-4652-95A0-A27B24AB3B27}" type="pres">
      <dgm:prSet presAssocID="{A1A279D5-0C71-4E23-A59A-E020A5F8B14A}" presName="spaceRect" presStyleCnt="0"/>
      <dgm:spPr/>
    </dgm:pt>
    <dgm:pt modelId="{35519878-953B-4804-BFC9-45F71085CD49}" type="pres">
      <dgm:prSet presAssocID="{A1A279D5-0C71-4E23-A59A-E020A5F8B14A}" presName="parTx" presStyleLbl="revTx" presStyleIdx="0" presStyleCnt="2">
        <dgm:presLayoutVars>
          <dgm:chMax val="0"/>
          <dgm:chPref val="0"/>
        </dgm:presLayoutVars>
      </dgm:prSet>
      <dgm:spPr/>
    </dgm:pt>
    <dgm:pt modelId="{8E0302F8-9BED-40B8-AB25-59CF941FAEA4}" type="pres">
      <dgm:prSet presAssocID="{95BB077F-B800-4F90-AA05-0F00D1D15E56}" presName="sibTrans" presStyleCnt="0"/>
      <dgm:spPr/>
    </dgm:pt>
    <dgm:pt modelId="{18D522D9-5D80-4437-B7A6-988385CC364B}" type="pres">
      <dgm:prSet presAssocID="{ACBD4F32-BFBF-4CBC-9836-F5AF23544D95}" presName="compNode" presStyleCnt="0"/>
      <dgm:spPr/>
    </dgm:pt>
    <dgm:pt modelId="{8852DD8A-B948-4036-9C85-F6DFEF640815}" type="pres">
      <dgm:prSet presAssocID="{ACBD4F32-BFBF-4CBC-9836-F5AF23544D95}" presName="bgRect" presStyleLbl="bgShp" presStyleIdx="1" presStyleCnt="2"/>
      <dgm:spPr/>
    </dgm:pt>
    <dgm:pt modelId="{0634B278-E873-4099-82D6-58E123CF0DFB}" type="pres">
      <dgm:prSet presAssocID="{ACBD4F32-BFBF-4CBC-9836-F5AF23544D9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ooter"/>
        </a:ext>
      </dgm:extLst>
    </dgm:pt>
    <dgm:pt modelId="{4DF0B22F-0F15-4310-A221-7812CA1EF8E0}" type="pres">
      <dgm:prSet presAssocID="{ACBD4F32-BFBF-4CBC-9836-F5AF23544D95}" presName="spaceRect" presStyleCnt="0"/>
      <dgm:spPr/>
    </dgm:pt>
    <dgm:pt modelId="{9976F00D-EDB3-4C27-8652-ACBAE9A0DFE1}" type="pres">
      <dgm:prSet presAssocID="{ACBD4F32-BFBF-4CBC-9836-F5AF23544D95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574AE045-237E-49E3-B1E0-BA2519F2FEB4}" type="presOf" srcId="{1ABD153C-3176-4892-9B41-45E27C32D7BA}" destId="{A96E0277-0F02-4082-8518-B4DBEEA78074}" srcOrd="0" destOrd="0" presId="urn:microsoft.com/office/officeart/2018/2/layout/IconVerticalSolidList"/>
    <dgm:cxn modelId="{5B4B474F-33A5-430D-AA23-BE90E69B070C}" type="presOf" srcId="{A1A279D5-0C71-4E23-A59A-E020A5F8B14A}" destId="{35519878-953B-4804-BFC9-45F71085CD49}" srcOrd="0" destOrd="0" presId="urn:microsoft.com/office/officeart/2018/2/layout/IconVerticalSolidList"/>
    <dgm:cxn modelId="{84C603A6-86DA-422A-9D69-8E4D4EC96C1E}" srcId="{1ABD153C-3176-4892-9B41-45E27C32D7BA}" destId="{ACBD4F32-BFBF-4CBC-9836-F5AF23544D95}" srcOrd="1" destOrd="0" parTransId="{187D30E8-C8E3-49F4-8B39-740E237C4BA9}" sibTransId="{D68A4AA4-0255-47EE-A880-0FFE316B20DE}"/>
    <dgm:cxn modelId="{4B954BC1-B247-434A-9E7C-1FD5B64F515F}" srcId="{1ABD153C-3176-4892-9B41-45E27C32D7BA}" destId="{A1A279D5-0C71-4E23-A59A-E020A5F8B14A}" srcOrd="0" destOrd="0" parTransId="{6156AC06-6A28-4D92-9AAB-CE9324BDA457}" sibTransId="{95BB077F-B800-4F90-AA05-0F00D1D15E56}"/>
    <dgm:cxn modelId="{5607A4F7-355A-413B-AAA2-4972C7EDB054}" type="presOf" srcId="{ACBD4F32-BFBF-4CBC-9836-F5AF23544D95}" destId="{9976F00D-EDB3-4C27-8652-ACBAE9A0DFE1}" srcOrd="0" destOrd="0" presId="urn:microsoft.com/office/officeart/2018/2/layout/IconVerticalSolidList"/>
    <dgm:cxn modelId="{8BDC21F9-3A54-4676-9325-884D512C5333}" type="presParOf" srcId="{A96E0277-0F02-4082-8518-B4DBEEA78074}" destId="{63A24066-69EF-49DA-AAAB-A1DBC908F1DA}" srcOrd="0" destOrd="0" presId="urn:microsoft.com/office/officeart/2018/2/layout/IconVerticalSolidList"/>
    <dgm:cxn modelId="{410ED01A-DB6C-4C5F-9EEC-0C567310C727}" type="presParOf" srcId="{63A24066-69EF-49DA-AAAB-A1DBC908F1DA}" destId="{2757E941-38ED-4C5A-BA8F-013EE14F82C8}" srcOrd="0" destOrd="0" presId="urn:microsoft.com/office/officeart/2018/2/layout/IconVerticalSolidList"/>
    <dgm:cxn modelId="{0790A7D6-47F1-4920-A284-02AF7ACE84B5}" type="presParOf" srcId="{63A24066-69EF-49DA-AAAB-A1DBC908F1DA}" destId="{1AAF2EE5-1A2F-4709-ADD2-E922DCEBBE8E}" srcOrd="1" destOrd="0" presId="urn:microsoft.com/office/officeart/2018/2/layout/IconVerticalSolidList"/>
    <dgm:cxn modelId="{F0EA65BF-5CF4-4DEA-87E3-C3205BCAFE2A}" type="presParOf" srcId="{63A24066-69EF-49DA-AAAB-A1DBC908F1DA}" destId="{A75DC039-FEE0-4652-95A0-A27B24AB3B27}" srcOrd="2" destOrd="0" presId="urn:microsoft.com/office/officeart/2018/2/layout/IconVerticalSolidList"/>
    <dgm:cxn modelId="{340B4F9B-BC78-42FA-BED8-CCA98E263899}" type="presParOf" srcId="{63A24066-69EF-49DA-AAAB-A1DBC908F1DA}" destId="{35519878-953B-4804-BFC9-45F71085CD49}" srcOrd="3" destOrd="0" presId="urn:microsoft.com/office/officeart/2018/2/layout/IconVerticalSolidList"/>
    <dgm:cxn modelId="{FC12A141-BDF4-4424-AB58-FFABAAD8DAEE}" type="presParOf" srcId="{A96E0277-0F02-4082-8518-B4DBEEA78074}" destId="{8E0302F8-9BED-40B8-AB25-59CF941FAEA4}" srcOrd="1" destOrd="0" presId="urn:microsoft.com/office/officeart/2018/2/layout/IconVerticalSolidList"/>
    <dgm:cxn modelId="{34B8F8CC-3D52-4B9D-862E-EC2366D7E587}" type="presParOf" srcId="{A96E0277-0F02-4082-8518-B4DBEEA78074}" destId="{18D522D9-5D80-4437-B7A6-988385CC364B}" srcOrd="2" destOrd="0" presId="urn:microsoft.com/office/officeart/2018/2/layout/IconVerticalSolidList"/>
    <dgm:cxn modelId="{8ADF63CB-CA05-49B5-A745-695727CFDF38}" type="presParOf" srcId="{18D522D9-5D80-4437-B7A6-988385CC364B}" destId="{8852DD8A-B948-4036-9C85-F6DFEF640815}" srcOrd="0" destOrd="0" presId="urn:microsoft.com/office/officeart/2018/2/layout/IconVerticalSolidList"/>
    <dgm:cxn modelId="{6710FDE6-308F-45CC-9E4B-AA559B8F4771}" type="presParOf" srcId="{18D522D9-5D80-4437-B7A6-988385CC364B}" destId="{0634B278-E873-4099-82D6-58E123CF0DFB}" srcOrd="1" destOrd="0" presId="urn:microsoft.com/office/officeart/2018/2/layout/IconVerticalSolidList"/>
    <dgm:cxn modelId="{5E63A9C5-4667-473B-8E00-E83A0F6EF60C}" type="presParOf" srcId="{18D522D9-5D80-4437-B7A6-988385CC364B}" destId="{4DF0B22F-0F15-4310-A221-7812CA1EF8E0}" srcOrd="2" destOrd="0" presId="urn:microsoft.com/office/officeart/2018/2/layout/IconVerticalSolidList"/>
    <dgm:cxn modelId="{13E68A3F-F683-4C3F-A2B9-1BE74A7AC7D4}" type="presParOf" srcId="{18D522D9-5D80-4437-B7A6-988385CC364B}" destId="{9976F00D-EDB3-4C27-8652-ACBAE9A0DFE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5CF2510-1A29-450E-AE87-CE6293BC274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2EDF8D0-40C3-40D5-8A11-04228594BE57}">
      <dgm:prSet/>
      <dgm:spPr/>
      <dgm:t>
        <a:bodyPr/>
        <a:lstStyle/>
        <a:p>
          <a:r>
            <a:rPr lang="en-US" b="1"/>
            <a:t>This trimester allowed me to significantly improve my understanding of robotics simulation, MATLAB/Simulink, and physics-based system behaviour. My main contribution focused on implementing the Kinova Gen3 physics replication using Simscape Multibody, where I progressed from motion-based validation to realistic torque-driven simulation. Through this process, I gained practical experience in robotic dynamics, actuator configuration, signal conversion, solver configuration, and simulation debugging.</a:t>
          </a:r>
          <a:endParaRPr lang="en-US"/>
        </a:p>
      </dgm:t>
    </dgm:pt>
    <dgm:pt modelId="{6D7DFAC9-6169-40B8-ADCC-33C2931F1711}" type="parTrans" cxnId="{2E45D444-EEBD-4709-A909-95ACC9E14F70}">
      <dgm:prSet/>
      <dgm:spPr/>
      <dgm:t>
        <a:bodyPr/>
        <a:lstStyle/>
        <a:p>
          <a:endParaRPr lang="en-US"/>
        </a:p>
      </dgm:t>
    </dgm:pt>
    <dgm:pt modelId="{A4902237-9201-4280-B985-0EA5909191A5}" type="sibTrans" cxnId="{2E45D444-EEBD-4709-A909-95ACC9E14F70}">
      <dgm:prSet/>
      <dgm:spPr/>
      <dgm:t>
        <a:bodyPr/>
        <a:lstStyle/>
        <a:p>
          <a:endParaRPr lang="en-US"/>
        </a:p>
      </dgm:t>
    </dgm:pt>
    <dgm:pt modelId="{86939904-E563-4912-B0E5-6B68EFA1ABE0}">
      <dgm:prSet/>
      <dgm:spPr/>
      <dgm:t>
        <a:bodyPr/>
        <a:lstStyle/>
        <a:p>
          <a:r>
            <a:rPr lang="en-US" b="1"/>
            <a:t>The project also strengthened my problem-solving, independent learning, and technical communication skills. Overall, the work completed this trimester provided a strong foundation for future robotics control, simulation integration, and systems engineering development. </a:t>
          </a:r>
          <a:endParaRPr lang="en-US"/>
        </a:p>
      </dgm:t>
    </dgm:pt>
    <dgm:pt modelId="{840E1C43-A19E-423D-A56D-7E9B18734399}" type="parTrans" cxnId="{AAD8BF56-4174-45C4-9D8D-CC9AD42CE410}">
      <dgm:prSet/>
      <dgm:spPr/>
      <dgm:t>
        <a:bodyPr/>
        <a:lstStyle/>
        <a:p>
          <a:endParaRPr lang="en-US"/>
        </a:p>
      </dgm:t>
    </dgm:pt>
    <dgm:pt modelId="{3A24688C-D086-45D3-9FBA-D1056B44259A}" type="sibTrans" cxnId="{AAD8BF56-4174-45C4-9D8D-CC9AD42CE410}">
      <dgm:prSet/>
      <dgm:spPr/>
      <dgm:t>
        <a:bodyPr/>
        <a:lstStyle/>
        <a:p>
          <a:endParaRPr lang="en-US"/>
        </a:p>
      </dgm:t>
    </dgm:pt>
    <dgm:pt modelId="{F34C155A-5007-4E27-909E-7C8685891225}" type="pres">
      <dgm:prSet presAssocID="{35CF2510-1A29-450E-AE87-CE6293BC2748}" presName="linear" presStyleCnt="0">
        <dgm:presLayoutVars>
          <dgm:animLvl val="lvl"/>
          <dgm:resizeHandles val="exact"/>
        </dgm:presLayoutVars>
      </dgm:prSet>
      <dgm:spPr/>
    </dgm:pt>
    <dgm:pt modelId="{94D7047A-7836-40CC-AC9F-671CFB080722}" type="pres">
      <dgm:prSet presAssocID="{32EDF8D0-40C3-40D5-8A11-04228594BE57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07FAEC8-2270-400A-82EA-F2488A745147}" type="pres">
      <dgm:prSet presAssocID="{A4902237-9201-4280-B985-0EA5909191A5}" presName="spacer" presStyleCnt="0"/>
      <dgm:spPr/>
    </dgm:pt>
    <dgm:pt modelId="{ADF8620E-2D19-436D-A472-9D610D9A713D}" type="pres">
      <dgm:prSet presAssocID="{86939904-E563-4912-B0E5-6B68EFA1ABE0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F8B6F019-B5A8-495E-B73C-DFB0E39E3546}" type="presOf" srcId="{86939904-E563-4912-B0E5-6B68EFA1ABE0}" destId="{ADF8620E-2D19-436D-A472-9D610D9A713D}" srcOrd="0" destOrd="0" presId="urn:microsoft.com/office/officeart/2005/8/layout/vList2"/>
    <dgm:cxn modelId="{2CAE0C42-6094-4781-9FDE-3ECCAC75933F}" type="presOf" srcId="{35CF2510-1A29-450E-AE87-CE6293BC2748}" destId="{F34C155A-5007-4E27-909E-7C8685891225}" srcOrd="0" destOrd="0" presId="urn:microsoft.com/office/officeart/2005/8/layout/vList2"/>
    <dgm:cxn modelId="{2E45D444-EEBD-4709-A909-95ACC9E14F70}" srcId="{35CF2510-1A29-450E-AE87-CE6293BC2748}" destId="{32EDF8D0-40C3-40D5-8A11-04228594BE57}" srcOrd="0" destOrd="0" parTransId="{6D7DFAC9-6169-40B8-ADCC-33C2931F1711}" sibTransId="{A4902237-9201-4280-B985-0EA5909191A5}"/>
    <dgm:cxn modelId="{9E5A0E69-9834-442C-ADCF-7B67AF742A56}" type="presOf" srcId="{32EDF8D0-40C3-40D5-8A11-04228594BE57}" destId="{94D7047A-7836-40CC-AC9F-671CFB080722}" srcOrd="0" destOrd="0" presId="urn:microsoft.com/office/officeart/2005/8/layout/vList2"/>
    <dgm:cxn modelId="{AAD8BF56-4174-45C4-9D8D-CC9AD42CE410}" srcId="{35CF2510-1A29-450E-AE87-CE6293BC2748}" destId="{86939904-E563-4912-B0E5-6B68EFA1ABE0}" srcOrd="1" destOrd="0" parTransId="{840E1C43-A19E-423D-A56D-7E9B18734399}" sibTransId="{3A24688C-D086-45D3-9FBA-D1056B44259A}"/>
    <dgm:cxn modelId="{E8FD51E7-BFEB-4658-A98B-C7B6D9A2E08B}" type="presParOf" srcId="{F34C155A-5007-4E27-909E-7C8685891225}" destId="{94D7047A-7836-40CC-AC9F-671CFB080722}" srcOrd="0" destOrd="0" presId="urn:microsoft.com/office/officeart/2005/8/layout/vList2"/>
    <dgm:cxn modelId="{139AC09F-AF88-44F6-97FA-ADC8E1DBF3A7}" type="presParOf" srcId="{F34C155A-5007-4E27-909E-7C8685891225}" destId="{607FAEC8-2270-400A-82EA-F2488A745147}" srcOrd="1" destOrd="0" presId="urn:microsoft.com/office/officeart/2005/8/layout/vList2"/>
    <dgm:cxn modelId="{48B903BB-D999-4083-9E26-BD4C8E04ABA3}" type="presParOf" srcId="{F34C155A-5007-4E27-909E-7C8685891225}" destId="{ADF8620E-2D19-436D-A472-9D610D9A713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757E941-38ED-4C5A-BA8F-013EE14F82C8}">
      <dsp:nvSpPr>
        <dsp:cNvPr id="0" name=""/>
        <dsp:cNvSpPr/>
      </dsp:nvSpPr>
      <dsp:spPr>
        <a:xfrm>
          <a:off x="0" y="708097"/>
          <a:ext cx="10515600" cy="1307257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AAF2EE5-1A2F-4709-ADD2-E922DCEBBE8E}">
      <dsp:nvSpPr>
        <dsp:cNvPr id="0" name=""/>
        <dsp:cNvSpPr/>
      </dsp:nvSpPr>
      <dsp:spPr>
        <a:xfrm>
          <a:off x="395445" y="1002230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519878-953B-4804-BFC9-45F71085CD49}">
      <dsp:nvSpPr>
        <dsp:cNvPr id="0" name=""/>
        <dsp:cNvSpPr/>
      </dsp:nvSpPr>
      <dsp:spPr>
        <a:xfrm>
          <a:off x="1509882" y="708097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E-Waste Battery Extraction System aims to develop a robotic solution capable of safely identifying and extracting batteries from electronic waste. My contribution focused on the Systems and Simulations component, specifically implementing physics-based robotic simulation using MATLAB, Simulink, and Simscape Multibody.</a:t>
          </a:r>
        </a:p>
      </dsp:txBody>
      <dsp:txXfrm>
        <a:off x="1509882" y="708097"/>
        <a:ext cx="9005717" cy="1307257"/>
      </dsp:txXfrm>
    </dsp:sp>
    <dsp:sp modelId="{8852DD8A-B948-4036-9C85-F6DFEF640815}">
      <dsp:nvSpPr>
        <dsp:cNvPr id="0" name=""/>
        <dsp:cNvSpPr/>
      </dsp:nvSpPr>
      <dsp:spPr>
        <a:xfrm>
          <a:off x="0" y="2342169"/>
          <a:ext cx="10515600" cy="1307257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34B278-E873-4099-82D6-58E123CF0DFB}">
      <dsp:nvSpPr>
        <dsp:cNvPr id="0" name=""/>
        <dsp:cNvSpPr/>
      </dsp:nvSpPr>
      <dsp:spPr>
        <a:xfrm>
          <a:off x="395445" y="2636302"/>
          <a:ext cx="718991" cy="718991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976F00D-EDB3-4C27-8652-ACBAE9A0DFE1}">
      <dsp:nvSpPr>
        <dsp:cNvPr id="0" name=""/>
        <dsp:cNvSpPr/>
      </dsp:nvSpPr>
      <dsp:spPr>
        <a:xfrm>
          <a:off x="1509882" y="2342169"/>
          <a:ext cx="9005717" cy="13072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8351" tIns="138351" rIns="138351" bIns="13835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The main goal of my work was to move from simple motion-based simulation toward realistic force-driven robotic behaviour using torque-based physics.</a:t>
          </a:r>
        </a:p>
      </dsp:txBody>
      <dsp:txXfrm>
        <a:off x="1509882" y="2342169"/>
        <a:ext cx="9005717" cy="13072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4D7047A-7836-40CC-AC9F-671CFB080722}">
      <dsp:nvSpPr>
        <dsp:cNvPr id="0" name=""/>
        <dsp:cNvSpPr/>
      </dsp:nvSpPr>
      <dsp:spPr>
        <a:xfrm>
          <a:off x="0" y="71209"/>
          <a:ext cx="6906491" cy="269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This trimester allowed me to significantly improve my understanding of robotics simulation, MATLAB/Simulink, and physics-based system behaviour. My main contribution focused on implementing the Kinova Gen3 physics replication using Simscape Multibody, where I progressed from motion-based validation to realistic torque-driven simulation. Through this process, I gained practical experience in robotic dynamics, actuator configuration, signal conversion, solver configuration, and simulation debugging.</a:t>
          </a:r>
          <a:endParaRPr lang="en-US" sz="1800" kern="1200"/>
        </a:p>
      </dsp:txBody>
      <dsp:txXfrm>
        <a:off x="131592" y="202801"/>
        <a:ext cx="6643307" cy="2432496"/>
      </dsp:txXfrm>
    </dsp:sp>
    <dsp:sp modelId="{ADF8620E-2D19-436D-A472-9D610D9A713D}">
      <dsp:nvSpPr>
        <dsp:cNvPr id="0" name=""/>
        <dsp:cNvSpPr/>
      </dsp:nvSpPr>
      <dsp:spPr>
        <a:xfrm>
          <a:off x="0" y="2818729"/>
          <a:ext cx="6906491" cy="269568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The project also strengthened my problem-solving, independent learning, and technical communication skills. Overall, the work completed this trimester provided a strong foundation for future robotics control, simulation integration, and systems engineering development. </a:t>
          </a:r>
          <a:endParaRPr lang="en-US" sz="1800" kern="1200"/>
        </a:p>
      </dsp:txBody>
      <dsp:txXfrm>
        <a:off x="131592" y="2950321"/>
        <a:ext cx="6643307" cy="24324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3AEEA1-58AE-3520-E88E-45EC7EC96CC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E7DB6AC-307D-6FD4-857D-737E7D024AF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0FE57A-DA28-868D-5956-0C900F6F74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209C34-4585-15C7-7915-B49FD41406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868075-6662-8561-D1DA-E486B6AB72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050167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4C2B69-CE37-2AD2-7791-385FB41BA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DA452C-FA53-15E4-2B4A-267CB44F9D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56FE6-FD17-54B9-A736-1D558A30A9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61A151-0652-BF31-B8FE-6A576235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0372FD-88D5-51B7-41B9-450C8C421E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021552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DF10F-44EE-B1CD-6304-8643F045F6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0813C-E28E-74A2-2D38-BE4E9A27AE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9DC86-2B12-1B7E-3BBF-86F53E5973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0E13A8-7B2C-2F90-087A-27E1202DBE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57934B-E3EC-5007-114D-93E24ACBBB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6189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B85FD-66B2-FCFC-6A4B-68BC903D01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BE4D7-F5D2-7431-E7C0-798673ABBC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B83BD7-776F-6AA4-2CFA-CCE95592BF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198CB-33CF-128D-6811-9D17DE0BC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59BCAD-BABC-208C-8124-5BF6C1565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AF0599-7C0E-6A91-F1C0-40A091DD6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652200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44D4FB-C50D-E3A7-7B4A-95C18BB526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7E05A0-F8FB-C33A-B3C2-251483C2D0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404902A-7928-4A6D-6EC9-BD55F91D7FB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AEB7E3-60CF-F394-BBFC-C906EE4258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35E991-D167-BBF0-DC62-A789E77C9C5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E251A89-5C78-D77D-26B7-CEB5D11BBA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A93F11-F78C-5875-E620-A1C246FAA6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3F1B6C4-6BA4-7368-55BC-2E62DE3F2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727511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EB61CD-0645-3697-D4AD-891F8F0E3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1E240A-6386-6599-4B96-D618B063E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46C4-245F-5B71-D0D4-9BC3ECC78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069F2B-0926-1B90-C89E-0D6CA0A8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7266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F351160-388B-EBA6-2600-C4518CE256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2C061CA-7CB8-C1D9-CF1C-C7782A5907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E1ECC7-B9C4-BB20-5E40-241F50BDC7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32165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A0ACA5-400E-9F77-389F-43C6EBED7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BE6A07-43F4-09DE-D4C6-720067233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B225EB1-11F2-31F5-C44D-5123DF2C4E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91A8D1-751B-8D9A-65D9-1030E40E20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DE52AE-DEF9-D0A6-8CD4-80955A4A76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98AE08-3794-9031-E291-8812587D70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239235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0B6C8-2F10-E2B4-80F5-09088BDF25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354C717-0455-49C8-727A-15080AA0A8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D4D4BC-8D2E-BCC6-3517-74D61142A9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9EA7D5-4457-C524-ABA2-BD89C8F483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EAE792-FD83-DA65-C0F7-6361603FD9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3F5002-0957-A261-22CF-3FF2DDD80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148438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0A2574-A839-8719-CE15-C4AD10AB12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FAFD54-8454-DF9E-32EB-6B46F5EC4A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9FD7D1-2959-A0F8-CB27-83A6EEA1C6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D510E-BEE4-1A09-6739-7EC3558BF2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B4ACB5-74FE-30D0-404E-2F8BE8217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427245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16CACBD-7DCB-E6A1-A365-8AF653421B7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EA6CC8-4EE2-3C57-82D1-C9764C2BF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6E5AC-3722-865A-A42B-F223D9B1F8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138423C-E09D-8952-665D-5FEAD84F1E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C8E104-3B05-4FDB-3936-F3A5F7502C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960213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5707A52-A4EC-152D-5D1F-ECCD82548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DD6F0F-41DF-2914-A5A4-ABE2FECA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1C1BB9-F642-1AB7-B8CE-999F3AAB366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35176F3-7348-4F04-9AA8-FBC54911796A}" type="datetimeFigureOut">
              <a:rPr lang="en-AU" smtClean="0"/>
              <a:t>20/05/2026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A7AD4-C0C8-13AB-A6C6-D71E776EB63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E200-B142-3731-2F95-58D0A8469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2F6F89A-A379-47BF-9ACB-5E6A0FB777D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622952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2" name="Rectangle 361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3" name="Rectangle 362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4" name="Rectangle 363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5" name="Rectangle 364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6" name="Rectangle 36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7" name="Oval 366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19462F8-8D25-CD44-12D6-87ECFE586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6396" y="586855"/>
            <a:ext cx="4230100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REEDBACK OPERATIONS</a:t>
            </a:r>
            <a:b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PROJECT 7:</a:t>
            </a:r>
            <a:b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“E WASTE BATTERY EXTRACTION ”</a:t>
            </a:r>
            <a:br>
              <a:rPr lang="en-US" sz="28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br>
              <a:rPr lang="en-US" sz="2800" b="1" i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PRESENTATION</a:t>
            </a:r>
            <a:b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</a:br>
            <a:r>
              <a:rPr lang="en-US" sz="28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- FINAL INDIVIDUAL RETROSPECTIVE 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B450F-E2AD-0BBA-9905-920847C6B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03158" y="649480"/>
            <a:ext cx="5404139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en-US" sz="2000" b="1" dirty="0"/>
              <a:t>STUDENT NAME: RAMNEEK SINGH BHANGU</a:t>
            </a:r>
          </a:p>
          <a:p>
            <a:pPr algn="l"/>
            <a:r>
              <a:rPr lang="en-US" sz="2000" b="1" dirty="0"/>
              <a:t>STUDENT ID: S223927982</a:t>
            </a:r>
          </a:p>
          <a:p>
            <a:pPr algn="l"/>
            <a:r>
              <a:rPr lang="en-US" sz="2000" b="1" dirty="0"/>
              <a:t>UNIT: SIT 374</a:t>
            </a:r>
          </a:p>
          <a:p>
            <a:pPr algn="l"/>
            <a:r>
              <a:rPr lang="en-US" sz="2000" b="1" dirty="0"/>
              <a:t>TRIMESTER: T1-26</a:t>
            </a:r>
          </a:p>
        </p:txBody>
      </p:sp>
    </p:spTree>
    <p:extLst>
      <p:ext uri="{BB962C8B-B14F-4D97-AF65-F5344CB8AC3E}">
        <p14:creationId xmlns:p14="http://schemas.microsoft.com/office/powerpoint/2010/main" val="34443632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588DBE3-B07E-0778-0DAD-AEE756F66F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AU" sz="3100" b="1"/>
              <a:t>PROJECT OVERVIEW</a:t>
            </a:r>
            <a:br>
              <a:rPr lang="en-AU" sz="3100" b="1"/>
            </a:br>
            <a:endParaRPr lang="en-AU" sz="310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B16C72C4-4926-0442-6269-FF45AE8D213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34014704"/>
              </p:ext>
            </p:extLst>
          </p:nvPr>
        </p:nvGraphicFramePr>
        <p:xfrm>
          <a:off x="838200" y="1926266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6590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4546A4F-D2D7-EBA2-26CC-CA931DF8F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AU" sz="4000"/>
              <a:t>MY CONTRIBUTION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691B1C-78CB-86FE-BB2D-A4B0DAA47E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/>
              <a:t>My responsibilities included:</a:t>
            </a:r>
          </a:p>
          <a:p>
            <a:r>
              <a:rPr lang="en-US" sz="2000"/>
              <a:t>Investigating simulation tool feasibility </a:t>
            </a:r>
          </a:p>
          <a:p>
            <a:r>
              <a:rPr lang="en-US" sz="2000"/>
              <a:t>Working with Kinova Gen3 simulation </a:t>
            </a:r>
          </a:p>
          <a:p>
            <a:r>
              <a:rPr lang="en-US" sz="2000"/>
              <a:t>Implementing physics replication </a:t>
            </a:r>
          </a:p>
          <a:p>
            <a:r>
              <a:rPr lang="en-US" sz="2000"/>
              <a:t>Testing torque-driven behaviour </a:t>
            </a:r>
          </a:p>
          <a:p>
            <a:r>
              <a:rPr lang="en-US" sz="2000"/>
              <a:t>Debugging simulation issues </a:t>
            </a:r>
          </a:p>
          <a:p>
            <a:r>
              <a:rPr lang="en-US" sz="2000"/>
              <a:t>Documenting results and demonstrations </a:t>
            </a:r>
          </a:p>
          <a:p>
            <a:r>
              <a:rPr lang="en-US" sz="2000"/>
              <a:t>I also contributed to discussions regarding Unity, MATLAB, and Isaac Sim feasibility for the Systems and Simulations workflow.</a:t>
            </a:r>
          </a:p>
          <a:p>
            <a:endParaRPr lang="en-AU" sz="2000"/>
          </a:p>
        </p:txBody>
      </p:sp>
      <p:pic>
        <p:nvPicPr>
          <p:cNvPr id="16" name="Picture 15" descr="Vaccine storage and manufacturing">
            <a:extLst>
              <a:ext uri="{FF2B5EF4-FFF2-40B4-BE49-F238E27FC236}">
                <a16:creationId xmlns:a16="http://schemas.microsoft.com/office/drawing/2014/main" id="{7FFD6E8D-B04B-5430-8B8C-6D0C23E0F5B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8491" r="19672" b="-1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31545767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4898FD-EA28-350B-0E97-33E417665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AU" dirty="0"/>
              <a:t>TOOLS AND TECHNOLOGIES USED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455CE4D3-C8F0-08D8-1752-69D1C48C09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35501431"/>
              </p:ext>
            </p:extLst>
          </p:nvPr>
        </p:nvGraphicFramePr>
        <p:xfrm>
          <a:off x="1790744" y="1926266"/>
          <a:ext cx="8610512" cy="43575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9407">
                  <a:extLst>
                    <a:ext uri="{9D8B030D-6E8A-4147-A177-3AD203B41FA5}">
                      <a16:colId xmlns:a16="http://schemas.microsoft.com/office/drawing/2014/main" val="3696951121"/>
                    </a:ext>
                  </a:extLst>
                </a:gridCol>
                <a:gridCol w="4351105">
                  <a:extLst>
                    <a:ext uri="{9D8B030D-6E8A-4147-A177-3AD203B41FA5}">
                      <a16:colId xmlns:a16="http://schemas.microsoft.com/office/drawing/2014/main" val="1546172312"/>
                    </a:ext>
                  </a:extLst>
                </a:gridCol>
              </a:tblGrid>
              <a:tr h="726254">
                <a:tc>
                  <a:txBody>
                    <a:bodyPr/>
                    <a:lstStyle/>
                    <a:p>
                      <a:r>
                        <a:rPr lang="en-AU" sz="3200"/>
                        <a:t>TOOL</a:t>
                      </a:r>
                    </a:p>
                  </a:txBody>
                  <a:tcPr marL="165058" marR="165058" marT="82529" marB="82529"/>
                </a:tc>
                <a:tc>
                  <a:txBody>
                    <a:bodyPr/>
                    <a:lstStyle/>
                    <a:p>
                      <a:r>
                        <a:rPr lang="en-AU" sz="3200"/>
                        <a:t>PURPOSE</a:t>
                      </a:r>
                    </a:p>
                  </a:txBody>
                  <a:tcPr marL="165058" marR="165058" marT="82529" marB="82529"/>
                </a:tc>
                <a:extLst>
                  <a:ext uri="{0D108BD9-81ED-4DB2-BD59-A6C34878D82A}">
                    <a16:rowId xmlns:a16="http://schemas.microsoft.com/office/drawing/2014/main" val="680903608"/>
                  </a:ext>
                </a:extLst>
              </a:tr>
              <a:tr h="726254">
                <a:tc>
                  <a:txBody>
                    <a:bodyPr/>
                    <a:lstStyle/>
                    <a:p>
                      <a:r>
                        <a:rPr lang="en-AU" sz="3200"/>
                        <a:t>MATLAB</a:t>
                      </a:r>
                    </a:p>
                  </a:txBody>
                  <a:tcPr marL="165058" marR="165058" marT="82529" marB="82529"/>
                </a:tc>
                <a:tc>
                  <a:txBody>
                    <a:bodyPr/>
                    <a:lstStyle/>
                    <a:p>
                      <a:r>
                        <a:rPr lang="en-AU" sz="3200"/>
                        <a:t>Robot Modelling </a:t>
                      </a:r>
                    </a:p>
                  </a:txBody>
                  <a:tcPr marL="165058" marR="165058" marT="82529" marB="82529"/>
                </a:tc>
                <a:extLst>
                  <a:ext uri="{0D108BD9-81ED-4DB2-BD59-A6C34878D82A}">
                    <a16:rowId xmlns:a16="http://schemas.microsoft.com/office/drawing/2014/main" val="2439528470"/>
                  </a:ext>
                </a:extLst>
              </a:tr>
              <a:tr h="726254">
                <a:tc>
                  <a:txBody>
                    <a:bodyPr/>
                    <a:lstStyle/>
                    <a:p>
                      <a:r>
                        <a:rPr lang="en-AU" sz="3200"/>
                        <a:t>Simulink </a:t>
                      </a:r>
                    </a:p>
                  </a:txBody>
                  <a:tcPr marL="165058" marR="165058" marT="82529" marB="82529"/>
                </a:tc>
                <a:tc>
                  <a:txBody>
                    <a:bodyPr/>
                    <a:lstStyle/>
                    <a:p>
                      <a:r>
                        <a:rPr lang="en-AU" sz="3200"/>
                        <a:t>Simulation Workflow</a:t>
                      </a:r>
                    </a:p>
                  </a:txBody>
                  <a:tcPr marL="165058" marR="165058" marT="82529" marB="82529"/>
                </a:tc>
                <a:extLst>
                  <a:ext uri="{0D108BD9-81ED-4DB2-BD59-A6C34878D82A}">
                    <a16:rowId xmlns:a16="http://schemas.microsoft.com/office/drawing/2014/main" val="3116682119"/>
                  </a:ext>
                </a:extLst>
              </a:tr>
              <a:tr h="726254">
                <a:tc>
                  <a:txBody>
                    <a:bodyPr/>
                    <a:lstStyle/>
                    <a:p>
                      <a:r>
                        <a:rPr lang="en-AU" sz="3200"/>
                        <a:t>Simscape Multibody</a:t>
                      </a:r>
                    </a:p>
                  </a:txBody>
                  <a:tcPr marL="165058" marR="165058" marT="82529" marB="82529"/>
                </a:tc>
                <a:tc>
                  <a:txBody>
                    <a:bodyPr/>
                    <a:lstStyle/>
                    <a:p>
                      <a:r>
                        <a:rPr lang="en-AU" sz="3200"/>
                        <a:t>Physics Engine </a:t>
                      </a:r>
                    </a:p>
                  </a:txBody>
                  <a:tcPr marL="165058" marR="165058" marT="82529" marB="82529"/>
                </a:tc>
                <a:extLst>
                  <a:ext uri="{0D108BD9-81ED-4DB2-BD59-A6C34878D82A}">
                    <a16:rowId xmlns:a16="http://schemas.microsoft.com/office/drawing/2014/main" val="2234322815"/>
                  </a:ext>
                </a:extLst>
              </a:tr>
              <a:tr h="726254">
                <a:tc>
                  <a:txBody>
                    <a:bodyPr/>
                    <a:lstStyle/>
                    <a:p>
                      <a:r>
                        <a:rPr lang="en-AU" sz="3200"/>
                        <a:t>Robotics Toolbox</a:t>
                      </a:r>
                    </a:p>
                  </a:txBody>
                  <a:tcPr marL="165058" marR="165058" marT="82529" marB="82529"/>
                </a:tc>
                <a:tc>
                  <a:txBody>
                    <a:bodyPr/>
                    <a:lstStyle/>
                    <a:p>
                      <a:r>
                        <a:rPr lang="en-AU" sz="3200"/>
                        <a:t>Robot Import </a:t>
                      </a:r>
                    </a:p>
                  </a:txBody>
                  <a:tcPr marL="165058" marR="165058" marT="82529" marB="82529"/>
                </a:tc>
                <a:extLst>
                  <a:ext uri="{0D108BD9-81ED-4DB2-BD59-A6C34878D82A}">
                    <a16:rowId xmlns:a16="http://schemas.microsoft.com/office/drawing/2014/main" val="1900602019"/>
                  </a:ext>
                </a:extLst>
              </a:tr>
              <a:tr h="726254">
                <a:tc>
                  <a:txBody>
                    <a:bodyPr/>
                    <a:lstStyle/>
                    <a:p>
                      <a:r>
                        <a:rPr lang="en-AU" sz="3200"/>
                        <a:t>Scope Blocks</a:t>
                      </a:r>
                    </a:p>
                  </a:txBody>
                  <a:tcPr marL="165058" marR="165058" marT="82529" marB="82529"/>
                </a:tc>
                <a:tc>
                  <a:txBody>
                    <a:bodyPr/>
                    <a:lstStyle/>
                    <a:p>
                      <a:r>
                        <a:rPr lang="en-AU" sz="3200"/>
                        <a:t>Output Visualisation </a:t>
                      </a:r>
                    </a:p>
                  </a:txBody>
                  <a:tcPr marL="165058" marR="165058" marT="82529" marB="82529"/>
                </a:tc>
                <a:extLst>
                  <a:ext uri="{0D108BD9-81ED-4DB2-BD59-A6C34878D82A}">
                    <a16:rowId xmlns:a16="http://schemas.microsoft.com/office/drawing/2014/main" val="902835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81079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2609869-9E80-471B-A487-A53288E0E7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F35F2E8-D424-F9FE-ED88-F8C4FEE282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6397" y="502020"/>
            <a:ext cx="5323715" cy="1642970"/>
          </a:xfrm>
        </p:spPr>
        <p:txBody>
          <a:bodyPr anchor="b">
            <a:normAutofit/>
          </a:bodyPr>
          <a:lstStyle/>
          <a:p>
            <a:r>
              <a:rPr lang="en-US" sz="3700" b="1"/>
              <a:t>ROBOT IMPORT AND MODEL GENERATION</a:t>
            </a:r>
            <a:br>
              <a:rPr lang="en-US" sz="3700" b="1"/>
            </a:br>
            <a:endParaRPr lang="en-AU" sz="370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6CA21D-1DD7-8567-DEF6-A95084EC12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923" y="2405894"/>
            <a:ext cx="5315189" cy="3535083"/>
          </a:xfrm>
        </p:spPr>
        <p:txBody>
          <a:bodyPr anchor="t">
            <a:normAutofit/>
          </a:bodyPr>
          <a:lstStyle/>
          <a:p>
            <a:r>
              <a:rPr lang="en-US" sz="1400"/>
              <a:t>The Kinova Gen3 robot was imported using MATLAB’s Robotics Toolbox. A Simulink/Simscape Multibody model was generated to create a complete rigid body representation of the manipulator.</a:t>
            </a:r>
          </a:p>
          <a:p>
            <a:endParaRPr lang="en-US" sz="1400"/>
          </a:p>
          <a:p>
            <a:pPr marL="0" indent="0">
              <a:buNone/>
            </a:pPr>
            <a:r>
              <a:rPr lang="en-US" sz="1400"/>
              <a:t>The generated model included:</a:t>
            </a:r>
          </a:p>
          <a:p>
            <a:r>
              <a:rPr lang="en-US" sz="1400"/>
              <a:t>7 revolute joints </a:t>
            </a:r>
          </a:p>
          <a:p>
            <a:r>
              <a:rPr lang="en-US" sz="1400"/>
              <a:t>rigid body links </a:t>
            </a:r>
          </a:p>
          <a:p>
            <a:r>
              <a:rPr lang="en-US" sz="1400"/>
              <a:t>actuator blocks </a:t>
            </a:r>
          </a:p>
          <a:p>
            <a:r>
              <a:rPr lang="en-US" sz="1400"/>
              <a:t>end-effector structure </a:t>
            </a:r>
          </a:p>
          <a:p>
            <a:r>
              <a:rPr lang="en-US" sz="1400"/>
              <a:t>The robot structure was verified using MATLAB functions before simulation testing began.</a:t>
            </a:r>
          </a:p>
          <a:p>
            <a:endParaRPr lang="en-AU" sz="140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004738A-9D34-43E8-97D2-CA0EED4F8B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5"/>
            <a:ext cx="4092521" cy="6858000"/>
          </a:xfrm>
          <a:prstGeom prst="rect">
            <a:avLst/>
          </a:prstGeom>
          <a:gradFill>
            <a:gsLst>
              <a:gs pos="8000">
                <a:srgbClr val="000000">
                  <a:alpha val="94000"/>
                </a:srgbClr>
              </a:gs>
              <a:gs pos="100000">
                <a:schemeClr val="accent1"/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B8B8D07F-F13E-443E-BA68-2D26672D7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"/>
            <a:ext cx="4092521" cy="6400369"/>
          </a:xfrm>
          <a:prstGeom prst="rect">
            <a:avLst/>
          </a:prstGeom>
          <a:gradFill>
            <a:gsLst>
              <a:gs pos="31000">
                <a:schemeClr val="accent1">
                  <a:lumMod val="50000"/>
                  <a:alpha val="0"/>
                </a:schemeClr>
              </a:gs>
              <a:gs pos="100000">
                <a:schemeClr val="accent1">
                  <a:lumMod val="50000"/>
                  <a:alpha val="26000"/>
                </a:schemeClr>
              </a:gs>
            </a:gsLst>
            <a:lin ang="18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13A4FA-24A5-41ED-A534-3807D1B2F3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22"/>
            <a:ext cx="4068667" cy="6400389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72000">
                <a:srgbClr val="000000">
                  <a:alpha val="21000"/>
                </a:srgb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3944F27-CA70-4E84-A51A-E6BF895589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3333" y="-10"/>
            <a:ext cx="3611467" cy="6857997"/>
          </a:xfrm>
          <a:prstGeom prst="rect">
            <a:avLst/>
          </a:prstGeom>
          <a:gradFill>
            <a:gsLst>
              <a:gs pos="0">
                <a:schemeClr val="accent1">
                  <a:alpha val="0"/>
                </a:schemeClr>
              </a:gs>
              <a:gs pos="93000">
                <a:srgbClr val="000000">
                  <a:alpha val="29000"/>
                </a:srgb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93C522-EF2B-1F70-9B7D-9E593CC4A5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967" y="942628"/>
            <a:ext cx="4170530" cy="5004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3469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2FD6E0C-71EC-CFC0-1F17-63F28A6CC4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0" y="762001"/>
            <a:ext cx="5334197" cy="1708242"/>
          </a:xfrm>
        </p:spPr>
        <p:txBody>
          <a:bodyPr anchor="ctr">
            <a:normAutofit/>
          </a:bodyPr>
          <a:lstStyle/>
          <a:p>
            <a:r>
              <a:rPr lang="en-AU" sz="4000" b="1"/>
              <a:t>MOTION-BASED VALIDATION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1436D4-2E36-6409-FEBC-9998C866B5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0" y="2470244"/>
            <a:ext cx="5334197" cy="3769835"/>
          </a:xfrm>
        </p:spPr>
        <p:txBody>
          <a:bodyPr anchor="ctr">
            <a:normAutofit/>
          </a:bodyPr>
          <a:lstStyle/>
          <a:p>
            <a:r>
              <a:rPr lang="en-US" sz="1700"/>
              <a:t>Before implementing realistic physics, I first validated the system using motion-based input. A Step signal was connected to Actuator4 to confirm:</a:t>
            </a:r>
          </a:p>
          <a:p>
            <a:pPr marL="0" indent="0">
              <a:buNone/>
            </a:pPr>
            <a:r>
              <a:rPr lang="en-US" sz="1700"/>
              <a:t>signal flow </a:t>
            </a:r>
          </a:p>
          <a:p>
            <a:pPr marL="0" indent="0">
              <a:buNone/>
            </a:pPr>
            <a:r>
              <a:rPr lang="en-US" sz="1700"/>
              <a:t>actuator response </a:t>
            </a:r>
          </a:p>
          <a:p>
            <a:pPr marL="0" indent="0">
              <a:buNone/>
            </a:pPr>
            <a:r>
              <a:rPr lang="en-US" sz="1700"/>
              <a:t>correct Simulink–Simscape interaction </a:t>
            </a:r>
          </a:p>
          <a:p>
            <a:pPr marL="0" indent="0">
              <a:buNone/>
            </a:pPr>
            <a:r>
              <a:rPr lang="en-US" sz="1700"/>
              <a:t>Position outputs were measured using Scope blocks.</a:t>
            </a:r>
          </a:p>
          <a:p>
            <a:pPr marL="0" indent="0">
              <a:buNone/>
            </a:pPr>
            <a:r>
              <a:rPr lang="en-US" sz="1700"/>
              <a:t>This stage confirmed that the robot model was functioning correctly before transitioning to force-driven simulation.</a:t>
            </a:r>
          </a:p>
          <a:p>
            <a:endParaRPr lang="en-AU" sz="1700"/>
          </a:p>
        </p:txBody>
      </p:sp>
      <p:pic>
        <p:nvPicPr>
          <p:cNvPr id="5" name="Picture 4" descr="Claw building a card house">
            <a:extLst>
              <a:ext uri="{FF2B5EF4-FFF2-40B4-BE49-F238E27FC236}">
                <a16:creationId xmlns:a16="http://schemas.microsoft.com/office/drawing/2014/main" id="{DF668221-31CB-7451-42C9-7E74516560D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" b="3365"/>
          <a:stretch>
            <a:fillRect/>
          </a:stretch>
        </p:blipFill>
        <p:spPr>
          <a:xfrm>
            <a:off x="6857797" y="-10886"/>
            <a:ext cx="5334204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632545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87A20E-2F24-3EF0-9A9D-82FC6BFD9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AU" sz="3700" b="1"/>
              <a:t>TORQUE-BASED PHYSICS IMPLEMENTATION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382ABF1-4261-E644-9D69-2268F33B5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To make the simulation more realistic, I transitioned from motion-driven input to torque-based actuation.</a:t>
            </a:r>
          </a:p>
          <a:p>
            <a:r>
              <a:rPr lang="en-US" sz="1700"/>
              <a:t>The actuator was configured so that:</a:t>
            </a:r>
          </a:p>
          <a:p>
            <a:pPr marL="0" indent="0">
              <a:buNone/>
            </a:pPr>
            <a:r>
              <a:rPr lang="en-US" sz="1700"/>
              <a:t>Torque = Provided by Input </a:t>
            </a:r>
          </a:p>
          <a:p>
            <a:pPr marL="0" indent="0">
              <a:buNone/>
            </a:pPr>
            <a:r>
              <a:rPr lang="en-US" sz="1700"/>
              <a:t>Motion = Automatically Computed </a:t>
            </a:r>
          </a:p>
          <a:p>
            <a:r>
              <a:rPr lang="en-US" sz="1700"/>
              <a:t>Torque was applied through:</a:t>
            </a:r>
          </a:p>
          <a:p>
            <a:pPr marL="0" indent="0">
              <a:buNone/>
            </a:pPr>
            <a:r>
              <a:rPr lang="en-US" sz="1700"/>
              <a:t>Constant → Simulink-PS Converter → Actuator</a:t>
            </a:r>
          </a:p>
          <a:p>
            <a:r>
              <a:rPr lang="en-US" sz="1700"/>
              <a:t>This allowed the system to compute motion based on physical forces rather than direct commands.</a:t>
            </a:r>
          </a:p>
          <a:p>
            <a:endParaRPr lang="en-AU" sz="1700"/>
          </a:p>
        </p:txBody>
      </p:sp>
      <p:pic>
        <p:nvPicPr>
          <p:cNvPr id="5" name="Picture 4" descr="CNC lathe processing">
            <a:extLst>
              <a:ext uri="{FF2B5EF4-FFF2-40B4-BE49-F238E27FC236}">
                <a16:creationId xmlns:a16="http://schemas.microsoft.com/office/drawing/2014/main" id="{857EB8C8-BE8E-877E-B64F-8D3EF4F9B73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314" r="285" b="-2"/>
          <a:stretch>
            <a:fillRect/>
          </a:stretch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2499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C6A6E6-C782-E11C-CD9D-91113A08F4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 b="1">
                <a:solidFill>
                  <a:srgbClr val="FFFFFF"/>
                </a:solidFill>
              </a:rPr>
              <a:t>SYSTEM OUTPUTS AND DYNAMIC BEHAVIOUR</a:t>
            </a:r>
            <a:endParaRPr lang="en-AU" sz="4000" b="1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82DDE-A9E3-FA2A-03C0-B5A021E63C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AU" sz="2000"/>
              <a:t>Position (q) and velocity (w) outputs were measured using:</a:t>
            </a:r>
          </a:p>
          <a:p>
            <a:r>
              <a:rPr lang="en-AU" sz="2000"/>
              <a:t>PS-Simulink Converters </a:t>
            </a:r>
          </a:p>
          <a:p>
            <a:r>
              <a:rPr lang="en-AU" sz="2000"/>
              <a:t>Scope blocks </a:t>
            </a:r>
          </a:p>
          <a:p>
            <a:pPr marL="0" indent="0">
              <a:buNone/>
            </a:pPr>
            <a:r>
              <a:rPr lang="en-AU" sz="2000"/>
              <a:t>The velocity response showed:</a:t>
            </a:r>
          </a:p>
          <a:p>
            <a:r>
              <a:rPr lang="en-AU" sz="2000"/>
              <a:t>initial spike </a:t>
            </a:r>
          </a:p>
          <a:p>
            <a:r>
              <a:rPr lang="en-AU" sz="2000"/>
              <a:t>oscillation </a:t>
            </a:r>
          </a:p>
          <a:p>
            <a:r>
              <a:rPr lang="en-AU" sz="2000"/>
              <a:t>damping </a:t>
            </a:r>
          </a:p>
          <a:p>
            <a:r>
              <a:rPr lang="en-AU" sz="2000"/>
              <a:t>stabilisation </a:t>
            </a:r>
          </a:p>
          <a:p>
            <a:r>
              <a:rPr lang="en-AU" sz="2000"/>
              <a:t>This behaviour confirmed realistic dynamic system response under applied torque.</a:t>
            </a:r>
          </a:p>
          <a:p>
            <a:endParaRPr lang="en-AU" sz="2000"/>
          </a:p>
        </p:txBody>
      </p:sp>
    </p:spTree>
    <p:extLst>
      <p:ext uri="{BB962C8B-B14F-4D97-AF65-F5344CB8AC3E}">
        <p14:creationId xmlns:p14="http://schemas.microsoft.com/office/powerpoint/2010/main" val="12742999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688E73-49B9-4052-A836-D248C825D7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B6AEE0C-07FE-4154-BC7C-2F20530BC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 descr="Financial graphs on a dark display">
            <a:extLst>
              <a:ext uri="{FF2B5EF4-FFF2-40B4-BE49-F238E27FC236}">
                <a16:creationId xmlns:a16="http://schemas.microsoft.com/office/drawing/2014/main" id="{B1577B82-6A67-A9F1-8F90-921FE8EE7A6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60000"/>
          </a:blip>
          <a:srcRect t="10000"/>
          <a:stretch>
            <a:fillRect/>
          </a:stretch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DF38084-1D21-60EC-D89A-C0B9BADC29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557189"/>
            <a:ext cx="5155263" cy="5571899"/>
          </a:xfrm>
        </p:spPr>
        <p:txBody>
          <a:bodyPr>
            <a:normAutofit/>
          </a:bodyPr>
          <a:lstStyle/>
          <a:p>
            <a:r>
              <a:rPr lang="en-AU" b="1">
                <a:solidFill>
                  <a:srgbClr val="FFFFFF"/>
                </a:solidFill>
              </a:rPr>
              <a:t>CHALLENGES AND SOLUTIONS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516167-67D8-1FEF-772C-4D0435CA4F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95375" y="557189"/>
            <a:ext cx="5158424" cy="557189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During implementation, several technical issues were encountered: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unit mismatch errors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red physical signal lines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solver derivative issues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unstable outputs </a:t>
            </a:r>
          </a:p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These were resolved by: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correcting units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adjusting actuator settings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modifying damping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configuring solver </a:t>
            </a:r>
            <a:r>
              <a:rPr lang="en-US" sz="2000" b="1" dirty="0" err="1">
                <a:solidFill>
                  <a:srgbClr val="FFFFFF"/>
                </a:solidFill>
              </a:rPr>
              <a:t>behaviour</a:t>
            </a:r>
            <a:r>
              <a:rPr lang="en-US" sz="2000" b="1" dirty="0">
                <a:solidFill>
                  <a:srgbClr val="FFFFFF"/>
                </a:solidFill>
              </a:rPr>
              <a:t>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tuning torque values </a:t>
            </a:r>
          </a:p>
          <a:p>
            <a:r>
              <a:rPr lang="en-US" sz="2000" b="1" dirty="0">
                <a:solidFill>
                  <a:srgbClr val="FFFFFF"/>
                </a:solidFill>
              </a:rPr>
              <a:t>This process improved understanding of physical simulation and debugging.</a:t>
            </a:r>
          </a:p>
          <a:p>
            <a:endParaRPr lang="en-AU" sz="20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44821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38F5530-DA31-4B62-8DF9-56A1A3B6B6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AEFAF95-013F-4375-AAF4-033AC93F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8735E28-7236-42D8-A5E1-A0F302FE87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F3642881-D4B2-4CC2-A287-0FA0006F3A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01C50C6-CC43-4D9E-B2AB-F373712E43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6E7187D-0938-461D-BFC5-89EEF350622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34C951A-9754-438B-9D57-E6B93B6E4C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FCCC8FCE-0563-4147-B2A2-7C81702EBE8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5E68FC26-41A9-4C82-BE7F-E9344CDC4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0" name="Rectangle 19">
            <a:extLst>
              <a:ext uri="{FF2B5EF4-FFF2-40B4-BE49-F238E27FC236}">
                <a16:creationId xmlns:a16="http://schemas.microsoft.com/office/drawing/2014/main" id="{FBB336D1-2562-4680-B29B-E22C603C0E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9EED3885-4010-4FBE-A045-DC59CAE782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C3D74F45-ED22-46E8-8A8C-85550ED981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7F675583-78ED-4BEC-8424-37068227E8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C9BD9726-207D-4725-AA6E-5147080D5B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B1A43941-4783-4A0B-9385-1952F9F89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8" name="Rectangle 27">
            <a:extLst>
              <a:ext uri="{FF2B5EF4-FFF2-40B4-BE49-F238E27FC236}">
                <a16:creationId xmlns:a16="http://schemas.microsoft.com/office/drawing/2014/main" id="{B4806F9C-3233-4FC3-B300-D5AA58A5CD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0E3F9FC-BB7B-433D-8A4F-1BCFA582E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1406F394-9D6F-4986-A3AF-6EF16DEDE6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54F98CF1-0C8F-435D-846B-D3C506378FC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2781ACDD-4A0F-4369-A468-3FEC355F8E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2BB34D61-E762-4862-9DA8-702D97A362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56F56DB-E825-6498-AD8C-3924891E9B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0936"/>
            <a:ext cx="5465064" cy="5626947"/>
          </a:xfrm>
          <a:noFill/>
        </p:spPr>
        <p:txBody>
          <a:bodyPr anchor="ctr">
            <a:normAutofit/>
          </a:bodyPr>
          <a:lstStyle/>
          <a:p>
            <a:r>
              <a:rPr lang="en-AU" sz="4800" b="1">
                <a:solidFill>
                  <a:schemeClr val="bg1"/>
                </a:solidFill>
              </a:rPr>
              <a:t>KEY LEARNING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638B57-F89D-54B5-5DFA-E6385D506DE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2152" y="630936"/>
            <a:ext cx="4978592" cy="5626957"/>
          </a:xfrm>
          <a:noFill/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Through this task, I learned:</a:t>
            </a:r>
          </a:p>
          <a:p>
            <a:r>
              <a:rPr lang="en-US" sz="1800">
                <a:solidFill>
                  <a:schemeClr val="bg1"/>
                </a:solidFill>
              </a:rPr>
              <a:t>difference between kinematic and dynamic simulation </a:t>
            </a:r>
          </a:p>
          <a:p>
            <a:r>
              <a:rPr lang="en-US" sz="1800">
                <a:solidFill>
                  <a:schemeClr val="bg1"/>
                </a:solidFill>
              </a:rPr>
              <a:t>how torque-driven systems behave </a:t>
            </a:r>
          </a:p>
          <a:p>
            <a:r>
              <a:rPr lang="en-US" sz="1800">
                <a:solidFill>
                  <a:schemeClr val="bg1"/>
                </a:solidFill>
              </a:rPr>
              <a:t>how Simscape models physical systems </a:t>
            </a:r>
          </a:p>
          <a:p>
            <a:r>
              <a:rPr lang="en-US" sz="1800">
                <a:solidFill>
                  <a:schemeClr val="bg1"/>
                </a:solidFill>
              </a:rPr>
              <a:t>practical debugging in simulation environments </a:t>
            </a:r>
          </a:p>
          <a:p>
            <a:r>
              <a:rPr lang="en-US" sz="1800">
                <a:solidFill>
                  <a:schemeClr val="bg1"/>
                </a:solidFill>
              </a:rPr>
              <a:t>importance of realistic physics in robotics </a:t>
            </a:r>
          </a:p>
          <a:p>
            <a:pPr marL="0" indent="0">
              <a:buNone/>
            </a:pPr>
            <a:r>
              <a:rPr lang="en-US" sz="1800">
                <a:solidFill>
                  <a:schemeClr val="bg1"/>
                </a:solidFill>
              </a:rPr>
              <a:t>I also improved:</a:t>
            </a:r>
          </a:p>
          <a:p>
            <a:r>
              <a:rPr lang="en-US" sz="1800">
                <a:solidFill>
                  <a:schemeClr val="bg1"/>
                </a:solidFill>
              </a:rPr>
              <a:t>problem-solving </a:t>
            </a:r>
          </a:p>
          <a:p>
            <a:r>
              <a:rPr lang="en-US" sz="1800">
                <a:solidFill>
                  <a:schemeClr val="bg1"/>
                </a:solidFill>
              </a:rPr>
              <a:t>technical communication </a:t>
            </a:r>
          </a:p>
          <a:p>
            <a:r>
              <a:rPr lang="en-US" sz="1800">
                <a:solidFill>
                  <a:schemeClr val="bg1"/>
                </a:solidFill>
              </a:rPr>
              <a:t>independent learning </a:t>
            </a:r>
          </a:p>
          <a:p>
            <a:r>
              <a:rPr lang="en-US" sz="1800">
                <a:solidFill>
                  <a:schemeClr val="bg1"/>
                </a:solidFill>
              </a:rPr>
              <a:t>robotics simulation understanding </a:t>
            </a:r>
          </a:p>
          <a:p>
            <a:endParaRPr lang="en-AU" sz="180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04447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!!Rectangle">
            <a:extLst>
              <a:ext uri="{FF2B5EF4-FFF2-40B4-BE49-F238E27FC236}">
                <a16:creationId xmlns:a16="http://schemas.microsoft.com/office/drawing/2014/main" id="{362810D9-2C5A-477D-949C-C191895477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8467"/>
            <a:ext cx="12191999" cy="6866467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C214C7-1AE9-E888-0FE6-898368E8A1B4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5000"/>
          </a:blip>
          <a:srcRect/>
          <a:stretch>
            <a:fillRect/>
          </a:stretch>
        </p:blipFill>
        <p:spPr>
          <a:xfrm>
            <a:off x="20" y="-9107"/>
            <a:ext cx="1219198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BFE4C90-34C0-4B1D-F318-B8BE6CC25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>
            <a:normAutofit/>
          </a:bodyPr>
          <a:lstStyle/>
          <a:p>
            <a:r>
              <a:rPr lang="en-AU" sz="3700" b="1" dirty="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1" name="Arc 20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3" name="Content Placeholder 2">
            <a:extLst>
              <a:ext uri="{FF2B5EF4-FFF2-40B4-BE49-F238E27FC236}">
                <a16:creationId xmlns:a16="http://schemas.microsoft.com/office/drawing/2014/main" id="{F6ADDF4E-29EB-129E-D11B-F99158AAE20C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447308" y="591344"/>
          <a:ext cx="6906491" cy="55856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98947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624</Words>
  <Application>Microsoft Office PowerPoint</Application>
  <PresentationFormat>Widescreen</PresentationFormat>
  <Paragraphs>92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Office Theme</vt:lpstr>
      <vt:lpstr>REEDBACK OPERATIONS PROJECT 7: “E WASTE BATTERY EXTRACTION ”  PRESENTATION - FINAL INDIVIDUAL RETROSPECTIVE </vt:lpstr>
      <vt:lpstr>PROJECT OVERVIEW </vt:lpstr>
      <vt:lpstr>MY CONTRIBUTION</vt:lpstr>
      <vt:lpstr>TOOLS AND TECHNOLOGIES USED</vt:lpstr>
      <vt:lpstr>ROBOT IMPORT AND MODEL GENERATION </vt:lpstr>
      <vt:lpstr>MOTION-BASED VALIDATION</vt:lpstr>
      <vt:lpstr>TORQUE-BASED PHYSICS IMPLEMENTATION</vt:lpstr>
      <vt:lpstr>SYSTEM OUTPUTS AND DYNAMIC BEHAVIOUR</vt:lpstr>
      <vt:lpstr>CHALLENGES AND SOLUTIONS</vt:lpstr>
      <vt:lpstr>KEY LEARNING OUTCOMES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RAMNEEK SINGH BHANGU</dc:creator>
  <cp:lastModifiedBy>RAMNEEK SINGH BHANGU</cp:lastModifiedBy>
  <cp:revision>1</cp:revision>
  <dcterms:created xsi:type="dcterms:W3CDTF">2026-05-20T07:07:12Z</dcterms:created>
  <dcterms:modified xsi:type="dcterms:W3CDTF">2026-05-20T07:16:50Z</dcterms:modified>
</cp:coreProperties>
</file>